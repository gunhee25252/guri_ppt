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 snapToGrid="0">
      <p:cViewPr>
        <p:scale>
          <a:sx n="90" d="100"/>
          <a:sy n="90" d="100"/>
        </p:scale>
        <p:origin x="162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25F511-FC66-1FC7-69A2-9458F23BF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FD71CC-C8DE-1248-6000-148C0CDA3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B6EFDE-3DA3-0112-956C-6FB54EF48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7AC1-5F81-AA41-B8CE-CD4CF563A32F}" type="datetimeFigureOut">
              <a:rPr kumimoji="1" lang="ko-KR" altLang="en-US" smtClean="0"/>
              <a:t>2026. 3. 11.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F95878-F90A-3AD0-61B2-676AD035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13F91A-1976-7E6C-6CB0-5DDF2821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1F236-9E13-024E-A232-C6972DFC8D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237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3E5785-191D-732B-8001-BFB423FD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969270-0491-0D76-FC33-8B6E6337C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40F2C-660D-2FC2-E2B8-D2C3C0C50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7AC1-5F81-AA41-B8CE-CD4CF563A32F}" type="datetimeFigureOut">
              <a:rPr kumimoji="1" lang="ko-KR" altLang="en-US" smtClean="0"/>
              <a:t>2026. 3. 11.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82BC7-6CFD-388A-4B6B-59A17D2BC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70D498-9692-C022-E54A-07FD7029A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1F236-9E13-024E-A232-C6972DFC8D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6859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F0AEF-A403-F68D-7070-3C89BB5E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5024B-9A28-60F0-EA0B-7EAD768CE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474C39-E20F-66C2-2BBC-EFFE7AEF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7AC1-5F81-AA41-B8CE-CD4CF563A32F}" type="datetimeFigureOut">
              <a:rPr kumimoji="1" lang="ko-KR" altLang="en-US" smtClean="0"/>
              <a:t>2026. 3. 11.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5FA93B-243B-D3C7-B1E2-5F42BD119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7C141B-2F49-343D-4C7C-314AE10F7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1F236-9E13-024E-A232-C6972DFC8D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266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A0E25-EE66-3980-C16D-08B86C1E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D41D9F-5B01-B7C5-5FC1-1EF12AA3A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EFF39B-93BE-6842-D0D0-18685A020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2A8AC0-7F40-48A2-2298-81AB1742B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7AC1-5F81-AA41-B8CE-CD4CF563A32F}" type="datetimeFigureOut">
              <a:rPr kumimoji="1" lang="ko-KR" altLang="en-US" smtClean="0"/>
              <a:t>2026. 3. 11.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6E19D2-CC14-D065-0A91-B3BE979B3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1A2BA6-7DEE-36B7-464B-BC11A110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1F236-9E13-024E-A232-C6972DFC8D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8130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32B10-937D-2327-D198-FA6C0DE3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FA5A62-ACAF-717F-FD04-F27904EEB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242AED-645E-E5B9-6160-D5498E01E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A40C78-3E2B-E442-1EF4-137B19091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897B09-869B-792A-C156-297BC6718D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31B699-9F0C-60C0-EA45-805E85FAE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7AC1-5F81-AA41-B8CE-CD4CF563A32F}" type="datetimeFigureOut">
              <a:rPr kumimoji="1" lang="ko-KR" altLang="en-US" smtClean="0"/>
              <a:t>2026. 3. 11.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0CB227-75A4-54CE-B9F1-4C848A82A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A03A94-54F7-A4B5-81F3-012F11C8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1F236-9E13-024E-A232-C6972DFC8D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3217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DD8CCF-6B27-003F-96F4-5D40C0C70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F42D24-A2A8-B13F-D1FD-2446B79F6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7AC1-5F81-AA41-B8CE-CD4CF563A32F}" type="datetimeFigureOut">
              <a:rPr kumimoji="1" lang="ko-KR" altLang="en-US" smtClean="0"/>
              <a:t>2026. 3. 11.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AC7D98-1EC4-AB13-1E57-EAF97667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6A744A-5993-F0AA-56F0-D8F6BBB55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1F236-9E13-024E-A232-C6972DFC8D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6297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F6EF046-FD2C-171C-32D2-E9CAD2BFD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7AC1-5F81-AA41-B8CE-CD4CF563A32F}" type="datetimeFigureOut">
              <a:rPr kumimoji="1" lang="ko-KR" altLang="en-US" smtClean="0"/>
              <a:t>2026. 3. 11.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1B6F14-F02C-1DD8-4E12-E14A7E2F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05E5BD-93B5-A9DD-2165-A8D91DAF3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1F236-9E13-024E-A232-C6972DFC8D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6137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8493E3-37CE-B947-14CE-3F891BD0F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3FF41E-D7CE-CBA7-F2EE-3E822C40F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39F0E1-3255-DDAB-5A36-2BEB6719A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3D8B9E-D6E2-BE4B-EA8B-5EB6D5F5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7AC1-5F81-AA41-B8CE-CD4CF563A32F}" type="datetimeFigureOut">
              <a:rPr kumimoji="1" lang="ko-KR" altLang="en-US" smtClean="0"/>
              <a:t>2026. 3. 11.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ECA354-12E3-0D41-E672-F8B41B35B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D5774B-73AA-15F2-568D-DC00ED48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1F236-9E13-024E-A232-C6972DFC8D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8040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37237-7BFE-1FF6-A04E-E2612876E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AC3F8E-8FB0-EFCD-5529-A3EA2EE467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5210A2-23BB-6BBF-8D8A-EAC49D15A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8C1102-CA8D-498C-E3DB-CB166E726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7AC1-5F81-AA41-B8CE-CD4CF563A32F}" type="datetimeFigureOut">
              <a:rPr kumimoji="1" lang="ko-KR" altLang="en-US" smtClean="0"/>
              <a:t>2026. 3. 11.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F5A57D-118C-E3FA-3C4B-333456E5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F6C9D7-4FE2-65F0-36A7-60BFEB18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1F236-9E13-024E-A232-C6972DFC8D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398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B9BA5-DC8E-42AA-D814-2EFDF1065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C3FB75-4E2A-C26A-7889-38649F592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1E6AE0-B91B-4E76-A004-E02A7C6A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7AC1-5F81-AA41-B8CE-CD4CF563A32F}" type="datetimeFigureOut">
              <a:rPr kumimoji="1" lang="ko-KR" altLang="en-US" smtClean="0"/>
              <a:t>2026. 3. 11.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E88021-D209-F7DA-E047-5567D2726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C8EC1C-EE8B-8F05-B204-0BF1E82F8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1F236-9E13-024E-A232-C6972DFC8D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85944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3CC31F-261B-6095-D27C-A9BAB9163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55758D-1766-6191-E8A3-4D75118CC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5FA05C-BDA2-0C2D-569F-9C2E6D7B7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7AC1-5F81-AA41-B8CE-CD4CF563A32F}" type="datetimeFigureOut">
              <a:rPr kumimoji="1" lang="ko-KR" altLang="en-US" smtClean="0"/>
              <a:t>2026. 3. 11.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8D5F8A-4D7F-5EBD-0030-3DB2C9F4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2D7AF5-A61C-EB4D-A2F5-F9AFC2CA6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1F236-9E13-024E-A232-C6972DFC8D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1344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8B63E5-5406-1CC5-6186-531E901AE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A7879A-1980-7EC2-051E-BA5D0DBBF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47BADE-6815-D410-43A0-4961F7681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F7AC1-5F81-AA41-B8CE-CD4CF563A32F}" type="datetimeFigureOut">
              <a:rPr kumimoji="1" lang="ko-KR" altLang="en-US" smtClean="0"/>
              <a:t>2026. 3. 11.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36B59-4816-C9F9-5EE0-F6CD20480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E0876F-229E-396E-4E04-0A5B52B43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1F236-9E13-024E-A232-C6972DFC8D5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27413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7B4A63-E35D-0CE9-1A05-9495EDD88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95718" y="206468"/>
            <a:ext cx="9144000" cy="2387600"/>
          </a:xfrm>
        </p:spPr>
        <p:txBody>
          <a:bodyPr>
            <a:normAutofit fontScale="90000"/>
          </a:bodyPr>
          <a:lstStyle/>
          <a:p>
            <a:r>
              <a:rPr kumimoji="1" lang="en-US" altLang="ko-KR" dirty="0"/>
              <a:t>AI </a:t>
            </a:r>
            <a:r>
              <a:rPr kumimoji="1" lang="ko-KR" altLang="en-US" dirty="0"/>
              <a:t>웨딩 전문가 </a:t>
            </a:r>
            <a:br>
              <a:rPr kumimoji="1" lang="en-US" altLang="ko-KR" dirty="0"/>
            </a:br>
            <a:r>
              <a:rPr kumimoji="1" lang="ko-KR" altLang="en-US" dirty="0"/>
              <a:t>탐색 플랫폼</a:t>
            </a:r>
            <a:br>
              <a:rPr kumimoji="1" lang="en-US" altLang="ko-KR" dirty="0"/>
            </a:br>
            <a:r>
              <a:rPr kumimoji="1" lang="ko-KR" altLang="en-US" dirty="0"/>
              <a:t>특별한 시간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B79BBF-AA66-CEA8-4BEF-B8037BC3F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024" y="3023814"/>
            <a:ext cx="9144000" cy="1655762"/>
          </a:xfrm>
        </p:spPr>
        <p:txBody>
          <a:bodyPr/>
          <a:lstStyle/>
          <a:p>
            <a:r>
              <a:rPr kumimoji="1" lang="ko-KR" altLang="en-US" dirty="0"/>
              <a:t>웨딩 서비스 탐색의 비효율을 겪는 예비부부와 전문가를 위한 </a:t>
            </a:r>
            <a:endParaRPr kumimoji="1" lang="en-US" altLang="ko-KR" dirty="0"/>
          </a:p>
          <a:p>
            <a:r>
              <a:rPr kumimoji="1" lang="ko-KR" altLang="en-US" dirty="0" err="1"/>
              <a:t>멀티모달</a:t>
            </a:r>
            <a:r>
              <a:rPr kumimoji="1" lang="ko-KR" altLang="en-US" dirty="0"/>
              <a:t> </a:t>
            </a:r>
            <a:r>
              <a:rPr kumimoji="1" lang="en-US" altLang="ko-KR" dirty="0"/>
              <a:t>AI’</a:t>
            </a:r>
            <a:r>
              <a:rPr kumimoji="1" lang="ko-KR" altLang="en-US" dirty="0"/>
              <a:t> 추천</a:t>
            </a:r>
            <a:r>
              <a:rPr kumimoji="1" lang="en-US" altLang="ko-KR" dirty="0"/>
              <a:t>/</a:t>
            </a:r>
            <a:r>
              <a:rPr kumimoji="1" lang="ko-KR" altLang="en-US" dirty="0"/>
              <a:t>매칭 플랫폼</a:t>
            </a:r>
          </a:p>
        </p:txBody>
      </p:sp>
    </p:spTree>
    <p:extLst>
      <p:ext uri="{BB962C8B-B14F-4D97-AF65-F5344CB8AC3E}">
        <p14:creationId xmlns:p14="http://schemas.microsoft.com/office/powerpoint/2010/main" val="7974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268F9-5014-7DBA-D199-B82C40672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C_H_0">
            <a:extLst>
              <a:ext uri="{FF2B5EF4-FFF2-40B4-BE49-F238E27FC236}">
                <a16:creationId xmlns:a16="http://schemas.microsoft.com/office/drawing/2014/main" id="{F991738B-A18C-85CD-627A-2E8078BFA838}"/>
              </a:ext>
            </a:extLst>
          </p:cNvPr>
          <p:cNvSpPr txBox="1"/>
          <p:nvPr/>
        </p:nvSpPr>
        <p:spPr>
          <a:xfrm>
            <a:off x="500000" y="1600000"/>
            <a:ext cx="2600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600" b="1" dirty="0">
                <a:solidFill>
                  <a:srgbClr val="7A3B2E"/>
                </a:solidFill>
              </a:rPr>
              <a:t>PROBLEM</a:t>
            </a:r>
          </a:p>
        </p:txBody>
      </p:sp>
      <p:sp>
        <p:nvSpPr>
          <p:cNvPr id="5" name="TOC_L_0">
            <a:extLst>
              <a:ext uri="{FF2B5EF4-FFF2-40B4-BE49-F238E27FC236}">
                <a16:creationId xmlns:a16="http://schemas.microsoft.com/office/drawing/2014/main" id="{0FFC799A-D3E4-3A0C-341A-187B344C6126}"/>
              </a:ext>
            </a:extLst>
          </p:cNvPr>
          <p:cNvSpPr/>
          <p:nvPr/>
        </p:nvSpPr>
        <p:spPr>
          <a:xfrm>
            <a:off x="500000" y="2030000"/>
            <a:ext cx="2600000" cy="27000"/>
          </a:xfrm>
          <a:prstGeom prst="rect">
            <a:avLst/>
          </a:prstGeom>
          <a:solidFill>
            <a:srgbClr val="7A3B2E"/>
          </a:solidFill>
          <a:ln w="0"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TOC_I_0">
            <a:extLst>
              <a:ext uri="{FF2B5EF4-FFF2-40B4-BE49-F238E27FC236}">
                <a16:creationId xmlns:a16="http://schemas.microsoft.com/office/drawing/2014/main" id="{7E230FEF-3613-0DD2-9691-730EC824336B}"/>
              </a:ext>
            </a:extLst>
          </p:cNvPr>
          <p:cNvSpPr txBox="1"/>
          <p:nvPr/>
        </p:nvSpPr>
        <p:spPr>
          <a:xfrm>
            <a:off x="500000" y="2130000"/>
            <a:ext cx="2600000" cy="15403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2600"/>
              </a:lnSpc>
              <a:buNone/>
            </a:pPr>
            <a:r>
              <a:rPr lang="en-US" sz="1200" b="1" dirty="0">
                <a:solidFill>
                  <a:srgbClr val="7A3B2E"/>
                </a:solidFill>
              </a:rPr>
              <a:t>01  </a:t>
            </a:r>
            <a:r>
              <a:rPr lang="ko-KR" sz="1200" dirty="0">
                <a:solidFill>
                  <a:srgbClr val="3D3425"/>
                </a:solidFill>
              </a:rPr>
              <a:t>문제 인식 - 예비부부/전문가 </a:t>
            </a:r>
          </a:p>
          <a:p>
            <a:pPr>
              <a:lnSpc>
                <a:spcPts val="2600"/>
              </a:lnSpc>
              <a:buNone/>
            </a:pPr>
            <a:r>
              <a:rPr lang="en-US" sz="1200" b="1" dirty="0">
                <a:solidFill>
                  <a:srgbClr val="7A3B2E"/>
                </a:solidFill>
              </a:rPr>
              <a:t>02  </a:t>
            </a:r>
            <a:r>
              <a:rPr lang="ko-KR" sz="1200" dirty="0">
                <a:solidFill>
                  <a:srgbClr val="3D3425"/>
                </a:solidFill>
              </a:rPr>
              <a:t>시장 규모 및 기회 (TAM/SAM/SOM)</a:t>
            </a:r>
          </a:p>
        </p:txBody>
      </p:sp>
      <p:sp>
        <p:nvSpPr>
          <p:cNvPr id="7" name="TOC_H_1">
            <a:extLst>
              <a:ext uri="{FF2B5EF4-FFF2-40B4-BE49-F238E27FC236}">
                <a16:creationId xmlns:a16="http://schemas.microsoft.com/office/drawing/2014/main" id="{29704186-7120-FA45-EEB9-2E3C060CA171}"/>
              </a:ext>
            </a:extLst>
          </p:cNvPr>
          <p:cNvSpPr txBox="1"/>
          <p:nvPr/>
        </p:nvSpPr>
        <p:spPr>
          <a:xfrm>
            <a:off x="3350000" y="1600000"/>
            <a:ext cx="2600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600" b="1" dirty="0">
                <a:solidFill>
                  <a:srgbClr val="B8860B"/>
                </a:solidFill>
              </a:rPr>
              <a:t>SOLUTION</a:t>
            </a:r>
          </a:p>
        </p:txBody>
      </p:sp>
      <p:sp>
        <p:nvSpPr>
          <p:cNvPr id="8" name="TOC_L_1">
            <a:extLst>
              <a:ext uri="{FF2B5EF4-FFF2-40B4-BE49-F238E27FC236}">
                <a16:creationId xmlns:a16="http://schemas.microsoft.com/office/drawing/2014/main" id="{C5A14102-19CA-E406-48DD-23BDA15A050F}"/>
              </a:ext>
            </a:extLst>
          </p:cNvPr>
          <p:cNvSpPr/>
          <p:nvPr/>
        </p:nvSpPr>
        <p:spPr>
          <a:xfrm>
            <a:off x="3350000" y="2030000"/>
            <a:ext cx="2600000" cy="2700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" name="TOC_I_1">
            <a:extLst>
              <a:ext uri="{FF2B5EF4-FFF2-40B4-BE49-F238E27FC236}">
                <a16:creationId xmlns:a16="http://schemas.microsoft.com/office/drawing/2014/main" id="{86A32CC4-406F-8185-EA70-D642A209AFDB}"/>
              </a:ext>
            </a:extLst>
          </p:cNvPr>
          <p:cNvSpPr txBox="1"/>
          <p:nvPr/>
        </p:nvSpPr>
        <p:spPr>
          <a:xfrm>
            <a:off x="3350000" y="2130000"/>
            <a:ext cx="2600000" cy="21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2600"/>
              </a:lnSpc>
              <a:buNone/>
            </a:pPr>
            <a:r>
              <a:rPr lang="en-US" sz="1200" b="1" dirty="0">
                <a:solidFill>
                  <a:srgbClr val="B8860B"/>
                </a:solidFill>
              </a:rPr>
              <a:t>03  </a:t>
            </a:r>
            <a:r>
              <a:rPr lang="ko-KR" sz="1200" dirty="0">
                <a:solidFill>
                  <a:srgbClr val="3D3425"/>
                </a:solidFill>
              </a:rPr>
              <a:t>서비스 핵심 기능 </a:t>
            </a:r>
          </a:p>
          <a:p>
            <a:pPr>
              <a:lnSpc>
                <a:spcPts val="2600"/>
              </a:lnSpc>
              <a:buNone/>
            </a:pPr>
            <a:r>
              <a:rPr lang="en-US" sz="1200" b="1" dirty="0">
                <a:solidFill>
                  <a:srgbClr val="B8860B"/>
                </a:solidFill>
              </a:rPr>
              <a:t>04  </a:t>
            </a:r>
            <a:r>
              <a:rPr lang="ko-KR" altLang="en-US" sz="1200" dirty="0">
                <a:solidFill>
                  <a:srgbClr val="3D3425"/>
                </a:solidFill>
              </a:rPr>
              <a:t>창업아이템 </a:t>
            </a:r>
            <a:r>
              <a:rPr lang="en-US" altLang="ko-KR" sz="1200" dirty="0">
                <a:solidFill>
                  <a:srgbClr val="3D3425"/>
                </a:solidFill>
              </a:rPr>
              <a:t>UX</a:t>
            </a:r>
            <a:endParaRPr lang="ko-KR" sz="1200" dirty="0">
              <a:solidFill>
                <a:srgbClr val="3D3425"/>
              </a:solidFill>
            </a:endParaRPr>
          </a:p>
          <a:p>
            <a:pPr>
              <a:lnSpc>
                <a:spcPts val="2600"/>
              </a:lnSpc>
              <a:buNone/>
            </a:pPr>
            <a:r>
              <a:rPr lang="en-US" sz="1200" b="1" dirty="0">
                <a:solidFill>
                  <a:srgbClr val="B8860B"/>
                </a:solidFill>
              </a:rPr>
              <a:t>05 </a:t>
            </a:r>
            <a:r>
              <a:rPr lang="ko-KR" altLang="en-US" sz="1200" b="1" dirty="0">
                <a:solidFill>
                  <a:srgbClr val="B8860B"/>
                </a:solidFill>
              </a:rPr>
              <a:t> </a:t>
            </a:r>
            <a:r>
              <a:rPr lang="ko-KR" altLang="ko-KR" sz="1200" dirty="0">
                <a:solidFill>
                  <a:srgbClr val="3D3425"/>
                </a:solidFill>
              </a:rPr>
              <a:t>기술 차별화 (AI Pipeline)</a:t>
            </a:r>
          </a:p>
          <a:p>
            <a:pPr>
              <a:lnSpc>
                <a:spcPts val="2600"/>
              </a:lnSpc>
              <a:buNone/>
            </a:pPr>
            <a:r>
              <a:rPr lang="en-US" sz="1200" b="1" dirty="0">
                <a:solidFill>
                  <a:srgbClr val="B8860B"/>
                </a:solidFill>
              </a:rPr>
              <a:t>06 </a:t>
            </a:r>
            <a:r>
              <a:rPr lang="ko-KR" altLang="en-US" sz="1200" b="1" dirty="0">
                <a:solidFill>
                  <a:srgbClr val="B8860B"/>
                </a:solidFill>
              </a:rPr>
              <a:t> </a:t>
            </a:r>
            <a:r>
              <a:rPr lang="ko-KR" altLang="ko-KR" sz="1200" dirty="0">
                <a:solidFill>
                  <a:srgbClr val="3D3425"/>
                </a:solidFill>
              </a:rPr>
              <a:t>기술 실현가능성 및 검증</a:t>
            </a:r>
          </a:p>
          <a:p>
            <a:pPr>
              <a:lnSpc>
                <a:spcPts val="2600"/>
              </a:lnSpc>
              <a:buNone/>
            </a:pPr>
            <a:r>
              <a:rPr lang="en-US" sz="1200" b="1" dirty="0">
                <a:solidFill>
                  <a:srgbClr val="B8860B"/>
                </a:solidFill>
              </a:rPr>
              <a:t>07 </a:t>
            </a:r>
            <a:r>
              <a:rPr lang="ko-KR" altLang="en-US" sz="1200" b="1" dirty="0">
                <a:solidFill>
                  <a:srgbClr val="B8860B"/>
                </a:solidFill>
              </a:rPr>
              <a:t> </a:t>
            </a:r>
            <a:r>
              <a:rPr lang="ko-KR" altLang="ko-KR" sz="1200" dirty="0">
                <a:solidFill>
                  <a:srgbClr val="3D3425"/>
                </a:solidFill>
              </a:rPr>
              <a:t>경쟁 분석 및 </a:t>
            </a:r>
            <a:r>
              <a:rPr lang="ko-KR" altLang="ko-KR" sz="1200" dirty="0" err="1">
                <a:solidFill>
                  <a:srgbClr val="3D3425"/>
                </a:solidFill>
              </a:rPr>
              <a:t>차별점</a:t>
            </a:r>
            <a:endParaRPr lang="ko-KR" altLang="ko-KR" sz="1200" dirty="0">
              <a:solidFill>
                <a:srgbClr val="3D3425"/>
              </a:solidFill>
            </a:endParaRPr>
          </a:p>
          <a:p>
            <a:pPr>
              <a:lnSpc>
                <a:spcPts val="2600"/>
              </a:lnSpc>
              <a:buNone/>
            </a:pPr>
            <a:r>
              <a:rPr lang="en-US" altLang="ko-KR" sz="1200" b="1" dirty="0">
                <a:solidFill>
                  <a:srgbClr val="B8860B"/>
                </a:solidFill>
              </a:rPr>
              <a:t>08 </a:t>
            </a:r>
            <a:r>
              <a:rPr lang="ko-KR" altLang="en-US" sz="1200" b="1" dirty="0">
                <a:solidFill>
                  <a:srgbClr val="B8860B"/>
                </a:solidFill>
              </a:rPr>
              <a:t> </a:t>
            </a:r>
            <a:r>
              <a:rPr lang="ko-KR" altLang="ko-KR" sz="1200" dirty="0">
                <a:solidFill>
                  <a:srgbClr val="3D3425"/>
                </a:solidFill>
              </a:rPr>
              <a:t>비즈니스 모델 (B2B2C)</a:t>
            </a:r>
            <a:r>
              <a:rPr lang="ko-KR" altLang="en-US" sz="1200" dirty="0">
                <a:solidFill>
                  <a:srgbClr val="3D3425"/>
                </a:solidFill>
              </a:rPr>
              <a:t> </a:t>
            </a:r>
            <a:endParaRPr lang="ko-KR" sz="1200" dirty="0">
              <a:solidFill>
                <a:srgbClr val="3D3425"/>
              </a:solidFill>
            </a:endParaRPr>
          </a:p>
        </p:txBody>
      </p:sp>
      <p:sp>
        <p:nvSpPr>
          <p:cNvPr id="10" name="TOC_H_2">
            <a:extLst>
              <a:ext uri="{FF2B5EF4-FFF2-40B4-BE49-F238E27FC236}">
                <a16:creationId xmlns:a16="http://schemas.microsoft.com/office/drawing/2014/main" id="{D232E8A0-7FE7-6DFB-E2C6-638A5139A0CE}"/>
              </a:ext>
            </a:extLst>
          </p:cNvPr>
          <p:cNvSpPr txBox="1"/>
          <p:nvPr/>
        </p:nvSpPr>
        <p:spPr>
          <a:xfrm>
            <a:off x="6200000" y="1600000"/>
            <a:ext cx="2600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600" b="1" dirty="0">
                <a:solidFill>
                  <a:srgbClr val="2E5E4E"/>
                </a:solidFill>
              </a:rPr>
              <a:t>SCALE-UP</a:t>
            </a:r>
          </a:p>
        </p:txBody>
      </p:sp>
      <p:sp>
        <p:nvSpPr>
          <p:cNvPr id="11" name="TOC_L_2">
            <a:extLst>
              <a:ext uri="{FF2B5EF4-FFF2-40B4-BE49-F238E27FC236}">
                <a16:creationId xmlns:a16="http://schemas.microsoft.com/office/drawing/2014/main" id="{6DBF0E56-FD9E-30A2-449D-1B4619EE0F57}"/>
              </a:ext>
            </a:extLst>
          </p:cNvPr>
          <p:cNvSpPr/>
          <p:nvPr/>
        </p:nvSpPr>
        <p:spPr>
          <a:xfrm>
            <a:off x="6200000" y="2030000"/>
            <a:ext cx="2600000" cy="27000"/>
          </a:xfrm>
          <a:prstGeom prst="rect">
            <a:avLst/>
          </a:prstGeom>
          <a:solidFill>
            <a:srgbClr val="2E5E4E"/>
          </a:solidFill>
          <a:ln w="0"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2" name="TOC_I_2">
            <a:extLst>
              <a:ext uri="{FF2B5EF4-FFF2-40B4-BE49-F238E27FC236}">
                <a16:creationId xmlns:a16="http://schemas.microsoft.com/office/drawing/2014/main" id="{AEDE3D64-0619-40DF-49B5-DB3D46791AA9}"/>
              </a:ext>
            </a:extLst>
          </p:cNvPr>
          <p:cNvSpPr txBox="1"/>
          <p:nvPr/>
        </p:nvSpPr>
        <p:spPr>
          <a:xfrm>
            <a:off x="6200000" y="2130000"/>
            <a:ext cx="2600000" cy="16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2600"/>
              </a:lnSpc>
              <a:buNone/>
            </a:pPr>
            <a:r>
              <a:rPr lang="en-US" sz="1200" b="1" dirty="0">
                <a:solidFill>
                  <a:srgbClr val="2E5E4E"/>
                </a:solidFill>
              </a:rPr>
              <a:t>09  </a:t>
            </a:r>
            <a:r>
              <a:rPr lang="ko-KR" sz="1200" dirty="0">
                <a:solidFill>
                  <a:srgbClr val="3D3425"/>
                </a:solidFill>
              </a:rPr>
              <a:t>성장 로드맵 (2026-2028)</a:t>
            </a:r>
          </a:p>
          <a:p>
            <a:pPr>
              <a:lnSpc>
                <a:spcPts val="2600"/>
              </a:lnSpc>
              <a:buNone/>
            </a:pPr>
            <a:r>
              <a:rPr lang="en-US" sz="1200" b="1" dirty="0">
                <a:solidFill>
                  <a:srgbClr val="2E5E4E"/>
                </a:solidFill>
              </a:rPr>
              <a:t>10  </a:t>
            </a:r>
            <a:r>
              <a:rPr lang="ko-KR" altLang="ko-KR" sz="1200" dirty="0">
                <a:solidFill>
                  <a:srgbClr val="3D3425"/>
                </a:solidFill>
              </a:rPr>
              <a:t>마케팅 전략</a:t>
            </a:r>
            <a:r>
              <a:rPr lang="ko-KR" altLang="en-US" sz="1200" dirty="0">
                <a:solidFill>
                  <a:srgbClr val="3D3425"/>
                </a:solidFill>
              </a:rPr>
              <a:t> </a:t>
            </a:r>
            <a:endParaRPr lang="ko-KR" sz="1200" dirty="0">
              <a:solidFill>
                <a:srgbClr val="3D3425"/>
              </a:solidFill>
            </a:endParaRPr>
          </a:p>
          <a:p>
            <a:pPr>
              <a:lnSpc>
                <a:spcPts val="2600"/>
              </a:lnSpc>
              <a:buNone/>
            </a:pPr>
            <a:r>
              <a:rPr lang="en-US" sz="1200" b="1" dirty="0">
                <a:solidFill>
                  <a:srgbClr val="2E5E4E"/>
                </a:solidFill>
              </a:rPr>
              <a:t>11  </a:t>
            </a:r>
            <a:r>
              <a:rPr lang="ko-KR" altLang="ko-KR" sz="1200" dirty="0">
                <a:solidFill>
                  <a:srgbClr val="3D3425"/>
                </a:solidFill>
              </a:rPr>
              <a:t>자금 운용 계획</a:t>
            </a:r>
            <a:r>
              <a:rPr lang="ko-KR" altLang="en-US" sz="1200" dirty="0">
                <a:solidFill>
                  <a:srgbClr val="3D3425"/>
                </a:solidFill>
              </a:rPr>
              <a:t> </a:t>
            </a:r>
            <a:endParaRPr lang="ko-KR" sz="1200" dirty="0">
              <a:solidFill>
                <a:srgbClr val="3D3425"/>
              </a:solidFill>
            </a:endParaRPr>
          </a:p>
          <a:p>
            <a:pPr>
              <a:lnSpc>
                <a:spcPts val="2600"/>
              </a:lnSpc>
              <a:buNone/>
            </a:pPr>
            <a:r>
              <a:rPr lang="en-US" sz="1200" b="1" dirty="0">
                <a:solidFill>
                  <a:srgbClr val="2E5E4E"/>
                </a:solidFill>
              </a:rPr>
              <a:t>12  </a:t>
            </a:r>
            <a:r>
              <a:rPr lang="ko-KR" sz="1200" dirty="0">
                <a:solidFill>
                  <a:srgbClr val="3D3425"/>
                </a:solidFill>
              </a:rPr>
              <a:t>핵심 KPI</a:t>
            </a:r>
          </a:p>
        </p:txBody>
      </p:sp>
      <p:sp>
        <p:nvSpPr>
          <p:cNvPr id="13" name="TOC_H_3">
            <a:extLst>
              <a:ext uri="{FF2B5EF4-FFF2-40B4-BE49-F238E27FC236}">
                <a16:creationId xmlns:a16="http://schemas.microsoft.com/office/drawing/2014/main" id="{FC88F16D-7C20-64F3-AEBA-EBDDB1EAA3A1}"/>
              </a:ext>
            </a:extLst>
          </p:cNvPr>
          <p:cNvSpPr txBox="1"/>
          <p:nvPr/>
        </p:nvSpPr>
        <p:spPr>
          <a:xfrm>
            <a:off x="9050000" y="1600000"/>
            <a:ext cx="2600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buNone/>
            </a:pPr>
            <a:r>
              <a:rPr lang="en-US" sz="1600" b="1" dirty="0">
                <a:solidFill>
                  <a:srgbClr val="6B4C3B"/>
                </a:solidFill>
              </a:rPr>
              <a:t>TEAM</a:t>
            </a:r>
          </a:p>
        </p:txBody>
      </p:sp>
      <p:sp>
        <p:nvSpPr>
          <p:cNvPr id="14" name="TOC_L_3">
            <a:extLst>
              <a:ext uri="{FF2B5EF4-FFF2-40B4-BE49-F238E27FC236}">
                <a16:creationId xmlns:a16="http://schemas.microsoft.com/office/drawing/2014/main" id="{A1D6D2F1-0299-C233-7451-3CF4BCD945D9}"/>
              </a:ext>
            </a:extLst>
          </p:cNvPr>
          <p:cNvSpPr/>
          <p:nvPr/>
        </p:nvSpPr>
        <p:spPr>
          <a:xfrm>
            <a:off x="9050000" y="2030000"/>
            <a:ext cx="2600000" cy="27000"/>
          </a:xfrm>
          <a:prstGeom prst="rect">
            <a:avLst/>
          </a:prstGeom>
          <a:solidFill>
            <a:srgbClr val="6B4C3B"/>
          </a:solidFill>
          <a:ln w="0"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5" name="TOC_I_3">
            <a:extLst>
              <a:ext uri="{FF2B5EF4-FFF2-40B4-BE49-F238E27FC236}">
                <a16:creationId xmlns:a16="http://schemas.microsoft.com/office/drawing/2014/main" id="{B06590EF-6E97-B120-7B51-B33C87822015}"/>
              </a:ext>
            </a:extLst>
          </p:cNvPr>
          <p:cNvSpPr txBox="1"/>
          <p:nvPr/>
        </p:nvSpPr>
        <p:spPr>
          <a:xfrm>
            <a:off x="9050000" y="2130000"/>
            <a:ext cx="2600000" cy="8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ts val="2600"/>
              </a:lnSpc>
              <a:buNone/>
            </a:pPr>
            <a:r>
              <a:rPr lang="en-US" sz="1200" b="1" dirty="0">
                <a:solidFill>
                  <a:srgbClr val="6B4C3B"/>
                </a:solidFill>
              </a:rPr>
              <a:t>13  </a:t>
            </a:r>
            <a:r>
              <a:rPr lang="ko-KR" sz="1200" dirty="0">
                <a:solidFill>
                  <a:srgbClr val="3D3425"/>
                </a:solidFill>
              </a:rPr>
              <a:t>팀 구성 및 역량</a:t>
            </a:r>
          </a:p>
          <a:p>
            <a:pPr>
              <a:lnSpc>
                <a:spcPts val="2600"/>
              </a:lnSpc>
              <a:buNone/>
            </a:pPr>
            <a:r>
              <a:rPr lang="en-US" sz="1200" b="1" dirty="0">
                <a:solidFill>
                  <a:srgbClr val="6B4C3B"/>
                </a:solidFill>
              </a:rPr>
              <a:t>14  </a:t>
            </a:r>
            <a:r>
              <a:rPr lang="ko-KR" sz="1200" dirty="0">
                <a:solidFill>
                  <a:srgbClr val="3D3425"/>
                </a:solidFill>
              </a:rPr>
              <a:t>재도전 스토리 및 교훈</a:t>
            </a:r>
          </a:p>
        </p:txBody>
      </p:sp>
    </p:spTree>
    <p:extLst>
      <p:ext uri="{BB962C8B-B14F-4D97-AF65-F5344CB8AC3E}">
        <p14:creationId xmlns:p14="http://schemas.microsoft.com/office/powerpoint/2010/main" val="153967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D28E9-F272-D5A3-7A7B-F413222AE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1-1.</a:t>
            </a:r>
            <a:r>
              <a:rPr kumimoji="1" lang="ko-KR" altLang="en-US" dirty="0"/>
              <a:t> 문제인식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결혼 준비 과정은 아직도 수동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BAEFAB-9D99-EC0B-9C8F-B67CF7E60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현재 예비부부는 웨딩 전문가를 찾기 위해</a:t>
            </a:r>
          </a:p>
          <a:p>
            <a:r>
              <a:rPr lang="ko-KR" altLang="en-US" dirty="0"/>
              <a:t>웨딩 카페</a:t>
            </a:r>
          </a:p>
          <a:p>
            <a:r>
              <a:rPr lang="en" altLang="ko-KR" dirty="0"/>
              <a:t>SNS</a:t>
            </a:r>
          </a:p>
          <a:p>
            <a:r>
              <a:rPr lang="ko-KR" altLang="en-US" dirty="0"/>
              <a:t>지인 추천</a:t>
            </a:r>
          </a:p>
          <a:p>
            <a:r>
              <a:rPr lang="ko-KR" altLang="en-US" dirty="0" err="1"/>
              <a:t>플래너</a:t>
            </a:r>
            <a:endParaRPr lang="ko-KR" altLang="en-US" dirty="0"/>
          </a:p>
          <a:p>
            <a:r>
              <a:rPr lang="ko-KR" altLang="en-US" dirty="0"/>
              <a:t>등 다양한 채널을 직접 탐색해야 한다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핵심 메시지</a:t>
            </a:r>
            <a:endParaRPr lang="ko-KR" altLang="en-US" dirty="0"/>
          </a:p>
          <a:p>
            <a:r>
              <a:rPr lang="ko-KR" altLang="en-US" dirty="0"/>
              <a:t>웨딩 전문가 탐색 평균</a:t>
            </a:r>
            <a:br>
              <a:rPr lang="ko-KR" altLang="en-US" dirty="0"/>
            </a:br>
            <a:r>
              <a:rPr lang="en-US" altLang="ko-KR" b="1" dirty="0"/>
              <a:t>2</a:t>
            </a:r>
            <a:r>
              <a:rPr lang="ko-KR" altLang="en-US" b="1" dirty="0"/>
              <a:t>시간 이상 소요</a:t>
            </a:r>
            <a:endParaRPr lang="ko-KR" altLang="en-US" dirty="0"/>
          </a:p>
          <a:p>
            <a:r>
              <a:rPr lang="ko-KR" altLang="en-US" b="1" dirty="0"/>
              <a:t>이미지</a:t>
            </a:r>
            <a:endParaRPr lang="ko-KR" altLang="en-US" dirty="0"/>
          </a:p>
          <a:p>
            <a:r>
              <a:rPr lang="en-US" altLang="ko-KR" dirty="0"/>
              <a:t>(</a:t>
            </a:r>
            <a:r>
              <a:rPr lang="ko-KR" altLang="en-US" dirty="0"/>
              <a:t>검색 → 카페 → </a:t>
            </a:r>
            <a:r>
              <a:rPr lang="en" altLang="ko-KR" dirty="0"/>
              <a:t>SNS → </a:t>
            </a:r>
            <a:r>
              <a:rPr lang="ko-KR" altLang="en-US" dirty="0" err="1"/>
              <a:t>플래너</a:t>
            </a:r>
            <a:r>
              <a:rPr lang="ko-KR" altLang="en-US" dirty="0"/>
              <a:t> → 혼란스러운 사용자 </a:t>
            </a:r>
            <a:r>
              <a:rPr lang="ko-KR" altLang="en-US" dirty="0" err="1"/>
              <a:t>인포그래픽</a:t>
            </a:r>
            <a:r>
              <a:rPr lang="en-US" altLang="ko-KR" dirty="0"/>
              <a:t>)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1715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4B423-820A-EDA4-2E5D-F966D606B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1-2.</a:t>
            </a:r>
            <a:r>
              <a:rPr kumimoji="1" lang="ko-KR" altLang="en-US" dirty="0"/>
              <a:t> 시장 규모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웨딩 서비스 시장 기회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C384E8-EFFB-D3FE-2270-710B6F98B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521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ko-KR" altLang="en-US" dirty="0"/>
          </a:p>
          <a:p>
            <a:r>
              <a:rPr lang="ko-KR" altLang="en-US" b="1" dirty="0"/>
              <a:t>약 </a:t>
            </a:r>
            <a:r>
              <a:rPr lang="en-US" altLang="ko-KR" b="1" dirty="0"/>
              <a:t>4.8</a:t>
            </a:r>
            <a:r>
              <a:rPr lang="ko-KR" altLang="en-US" b="1" dirty="0"/>
              <a:t>조 원</a:t>
            </a:r>
            <a:endParaRPr lang="ko-KR" altLang="en-US" dirty="0"/>
          </a:p>
          <a:p>
            <a:r>
              <a:rPr lang="ko-KR" altLang="en-US" dirty="0"/>
              <a:t>웨딩 평균 비용</a:t>
            </a:r>
          </a:p>
          <a:p>
            <a:r>
              <a:rPr lang="en-US" altLang="ko-KR" b="1" dirty="0"/>
              <a:t>2,160</a:t>
            </a:r>
            <a:r>
              <a:rPr lang="ko-KR" altLang="en-US" b="1" dirty="0"/>
              <a:t>만원</a:t>
            </a:r>
            <a:endParaRPr lang="ko-KR" altLang="en-US" dirty="0"/>
          </a:p>
          <a:p>
            <a:r>
              <a:rPr lang="ko-KR" altLang="en-US" b="1" dirty="0"/>
              <a:t>그래프</a:t>
            </a:r>
            <a:endParaRPr lang="en-US" altLang="ko-KR" b="1" dirty="0"/>
          </a:p>
          <a:p>
            <a:endParaRPr lang="ko-KR" altLang="en-US" dirty="0"/>
          </a:p>
          <a:p>
            <a:r>
              <a:rPr lang="en" altLang="ko-KR" dirty="0"/>
              <a:t>TAM</a:t>
            </a:r>
            <a:br>
              <a:rPr lang="en" altLang="ko-KR" dirty="0"/>
            </a:br>
            <a:r>
              <a:rPr lang="ko-KR" altLang="en-US" dirty="0"/>
              <a:t>전체 웨딩 시장</a:t>
            </a:r>
          </a:p>
          <a:p>
            <a:r>
              <a:rPr lang="en" altLang="ko-KR" dirty="0"/>
              <a:t>SAM</a:t>
            </a:r>
            <a:br>
              <a:rPr lang="en" altLang="ko-KR" dirty="0"/>
            </a:br>
            <a:r>
              <a:rPr lang="ko-KR" altLang="en-US" dirty="0"/>
              <a:t>웨딩 서비스 시장</a:t>
            </a:r>
          </a:p>
          <a:p>
            <a:r>
              <a:rPr lang="en" altLang="ko-KR" dirty="0"/>
              <a:t>SOM</a:t>
            </a:r>
            <a:br>
              <a:rPr lang="en" altLang="ko-KR" dirty="0"/>
            </a:br>
            <a:r>
              <a:rPr lang="ko-KR" altLang="en-US" dirty="0"/>
              <a:t>초기 확보 시장</a:t>
            </a:r>
          </a:p>
          <a:p>
            <a:r>
              <a:rPr lang="ko-KR" altLang="en-US" b="1" dirty="0"/>
              <a:t>이미지</a:t>
            </a:r>
            <a:endParaRPr lang="ko-KR" altLang="en-US" dirty="0"/>
          </a:p>
          <a:p>
            <a:r>
              <a:rPr lang="en-US" altLang="ko-KR" dirty="0"/>
              <a:t>(</a:t>
            </a:r>
            <a:r>
              <a:rPr lang="en" altLang="ko-KR" dirty="0"/>
              <a:t>TAM SAM SOM </a:t>
            </a:r>
            <a:r>
              <a:rPr lang="ko-KR" altLang="en-US" dirty="0"/>
              <a:t>원형 그래프</a:t>
            </a:r>
            <a:r>
              <a:rPr lang="en-US" altLang="ko-KR" dirty="0"/>
              <a:t>)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2730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A5FFA-7E5F-317B-CA13-5E986214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2-1.</a:t>
            </a:r>
            <a:r>
              <a:rPr kumimoji="1" lang="ko-KR" altLang="en-US" dirty="0"/>
              <a:t> 서비스 핵심 기능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ai</a:t>
            </a:r>
            <a:r>
              <a:rPr kumimoji="1" lang="ko-KR" altLang="en-US" dirty="0" err="1"/>
              <a:t>웨딩플래닝</a:t>
            </a:r>
            <a:r>
              <a:rPr kumimoji="1" lang="en-US" altLang="ko-KR" dirty="0"/>
              <a:t>/</a:t>
            </a:r>
            <a:r>
              <a:rPr kumimoji="1" lang="ko-KR" altLang="en-US" dirty="0"/>
              <a:t>전문가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B6E28-61DA-0F44-6245-D6E6459A8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특별한 시간은</a:t>
            </a:r>
            <a:br>
              <a:rPr lang="ko-KR" altLang="en-US" dirty="0"/>
            </a:br>
            <a:r>
              <a:rPr lang="en" altLang="ko-KR" dirty="0"/>
              <a:t>AI </a:t>
            </a:r>
            <a:r>
              <a:rPr lang="ko-KR" altLang="en-US" dirty="0"/>
              <a:t>기반 취향 분석을 통해</a:t>
            </a:r>
            <a:br>
              <a:rPr lang="ko-KR" altLang="en-US" dirty="0"/>
            </a:br>
            <a:r>
              <a:rPr lang="ko-KR" altLang="en-US" dirty="0"/>
              <a:t>웨딩 전문가를 추천하는 플랫폼이다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서비스 흐름</a:t>
            </a:r>
            <a:endParaRPr lang="ko-KR" altLang="en-US" dirty="0"/>
          </a:p>
          <a:p>
            <a:r>
              <a:rPr lang="ko-KR" altLang="en-US" dirty="0"/>
              <a:t>예비부부</a:t>
            </a:r>
            <a:br>
              <a:rPr lang="ko-KR" altLang="en-US" dirty="0"/>
            </a:br>
            <a:r>
              <a:rPr lang="ko-KR" altLang="en-US" dirty="0"/>
              <a:t>→ 취향 입력</a:t>
            </a:r>
            <a:br>
              <a:rPr lang="ko-KR" altLang="en-US" dirty="0"/>
            </a:br>
            <a:r>
              <a:rPr lang="ko-KR" altLang="en-US" dirty="0"/>
              <a:t>→ 이미지 선택</a:t>
            </a:r>
            <a:br>
              <a:rPr lang="ko-KR" altLang="en-US" dirty="0"/>
            </a:br>
            <a:r>
              <a:rPr lang="ko-KR" altLang="en-US" dirty="0"/>
              <a:t>→ </a:t>
            </a:r>
            <a:r>
              <a:rPr lang="en" altLang="ko-KR" dirty="0"/>
              <a:t>AI </a:t>
            </a:r>
            <a:r>
              <a:rPr lang="ko-KR" altLang="en-US" dirty="0"/>
              <a:t>분석</a:t>
            </a:r>
            <a:br>
              <a:rPr lang="ko-KR" altLang="en-US" dirty="0"/>
            </a:br>
            <a:r>
              <a:rPr lang="ko-KR" altLang="en-US" dirty="0"/>
              <a:t>→ 전문가 추천</a:t>
            </a:r>
          </a:p>
          <a:p>
            <a:r>
              <a:rPr lang="ko-KR" altLang="en-US" b="1" dirty="0"/>
              <a:t>이미지</a:t>
            </a:r>
            <a:endParaRPr lang="ko-KR" altLang="en-US" dirty="0"/>
          </a:p>
          <a:p>
            <a:r>
              <a:rPr lang="en-US" altLang="ko-KR" dirty="0"/>
              <a:t>(</a:t>
            </a:r>
            <a:r>
              <a:rPr lang="ko-KR" altLang="en-US" dirty="0"/>
              <a:t>플랫폼 흐름 다이어그램</a:t>
            </a:r>
            <a:r>
              <a:rPr lang="en-US" altLang="ko-KR" dirty="0"/>
              <a:t>)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8051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DF6832-446A-2431-0173-DF1869C54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2-2.</a:t>
            </a:r>
            <a:r>
              <a:rPr kumimoji="1" lang="ko-KR" altLang="en-US" dirty="0"/>
              <a:t> 창업아이템 </a:t>
            </a:r>
            <a:r>
              <a:rPr kumimoji="1" lang="en-US" altLang="ko-KR" dirty="0"/>
              <a:t>UX – ai</a:t>
            </a:r>
            <a:r>
              <a:rPr kumimoji="1" lang="ko-KR" altLang="en-US" dirty="0" err="1"/>
              <a:t>웨딩플래닝</a:t>
            </a:r>
            <a:r>
              <a:rPr kumimoji="1" lang="ko-KR" altLang="en-US" dirty="0"/>
              <a:t> </a:t>
            </a:r>
            <a:r>
              <a:rPr kumimoji="1" lang="en-US" altLang="ko-KR" dirty="0"/>
              <a:t>UX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245F01-4421-0953-19FE-DC056D8D8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사용자가 취향을 입력하면</a:t>
            </a:r>
            <a:br>
              <a:rPr lang="ko-KR" altLang="en-US" dirty="0"/>
            </a:br>
            <a:r>
              <a:rPr lang="en" altLang="ko-KR" dirty="0"/>
              <a:t>AI</a:t>
            </a:r>
            <a:r>
              <a:rPr lang="ko-KR" altLang="en-US" dirty="0"/>
              <a:t>가 웨딩 스타일을 분석하고</a:t>
            </a:r>
            <a:br>
              <a:rPr lang="ko-KR" altLang="en-US" dirty="0"/>
            </a:br>
            <a:r>
              <a:rPr lang="ko-KR" altLang="en-US" dirty="0"/>
              <a:t>적합한 전문가를 추천한다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핵심 효과</a:t>
            </a:r>
            <a:endParaRPr lang="ko-KR" altLang="en-US" dirty="0"/>
          </a:p>
          <a:p>
            <a:r>
              <a:rPr lang="ko-KR" altLang="en-US" dirty="0"/>
              <a:t>전문가 탐색 시간</a:t>
            </a:r>
          </a:p>
          <a:p>
            <a:r>
              <a:rPr lang="en-US" altLang="ko-KR" b="1" dirty="0"/>
              <a:t>2</a:t>
            </a:r>
            <a:r>
              <a:rPr lang="ko-KR" altLang="en-US" b="1" dirty="0"/>
              <a:t>시간 → </a:t>
            </a:r>
            <a:r>
              <a:rPr lang="en-US" altLang="ko-KR" b="1" dirty="0"/>
              <a:t>30</a:t>
            </a:r>
            <a:r>
              <a:rPr lang="ko-KR" altLang="en-US" b="1" dirty="0"/>
              <a:t>분 단축</a:t>
            </a:r>
            <a:endParaRPr lang="ko-KR" altLang="en-US" dirty="0"/>
          </a:p>
          <a:p>
            <a:r>
              <a:rPr lang="ko-KR" altLang="en-US" b="1" dirty="0"/>
              <a:t>이미지</a:t>
            </a:r>
            <a:endParaRPr lang="ko-KR" altLang="en-US" dirty="0"/>
          </a:p>
          <a:p>
            <a:r>
              <a:rPr lang="en-US" altLang="ko-KR" dirty="0"/>
              <a:t>(</a:t>
            </a:r>
            <a:r>
              <a:rPr lang="ko-KR" altLang="en-US" dirty="0"/>
              <a:t>모바일 앱 화면 </a:t>
            </a:r>
            <a:r>
              <a:rPr lang="ko-KR" altLang="en-US" dirty="0" err="1"/>
              <a:t>목업</a:t>
            </a:r>
            <a:r>
              <a:rPr lang="en-US" altLang="ko-KR" dirty="0"/>
              <a:t>)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577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7C409-98E3-B06B-789A-EF6B7C835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2-3.</a:t>
            </a:r>
            <a:r>
              <a:rPr kumimoji="1" lang="ko-KR" altLang="en-US" dirty="0"/>
              <a:t> 기술 차별화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멀티모달</a:t>
            </a:r>
            <a:r>
              <a:rPr kumimoji="1" lang="ko-KR" altLang="en-US" dirty="0"/>
              <a:t> </a:t>
            </a:r>
            <a:r>
              <a:rPr kumimoji="1" lang="en-US" altLang="ko-KR" dirty="0"/>
              <a:t>AI</a:t>
            </a:r>
            <a:r>
              <a:rPr kumimoji="1" lang="ko-KR" altLang="en-US" dirty="0"/>
              <a:t> 기술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330F18-3F37-BFE4-BB2D-94270E8B1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" altLang="ko-KR" dirty="0"/>
              <a:t>LLM </a:t>
            </a:r>
            <a:r>
              <a:rPr lang="ko-KR" altLang="en-US" dirty="0"/>
              <a:t>기반 웨딩 상담</a:t>
            </a:r>
          </a:p>
          <a:p>
            <a:r>
              <a:rPr lang="en" altLang="ko-KR" dirty="0"/>
              <a:t>Vision AI </a:t>
            </a:r>
            <a:r>
              <a:rPr lang="ko-KR" altLang="en-US" dirty="0"/>
              <a:t>이미지 분석</a:t>
            </a:r>
          </a:p>
          <a:p>
            <a:r>
              <a:rPr lang="ko-KR" altLang="en-US" dirty="0"/>
              <a:t>추천 알고리즘</a:t>
            </a:r>
          </a:p>
          <a:p>
            <a:r>
              <a:rPr lang="ko-KR" altLang="en-US" b="1" dirty="0"/>
              <a:t>기술 구조</a:t>
            </a:r>
            <a:endParaRPr lang="ko-KR" altLang="en-US" dirty="0"/>
          </a:p>
          <a:p>
            <a:r>
              <a:rPr lang="ko-KR" altLang="en-US" dirty="0"/>
              <a:t>이미지</a:t>
            </a:r>
            <a:br>
              <a:rPr lang="ko-KR" altLang="en-US" dirty="0"/>
            </a:br>
            <a:r>
              <a:rPr lang="ko-KR" altLang="en-US" dirty="0"/>
              <a:t>→ </a:t>
            </a:r>
            <a:r>
              <a:rPr lang="en" altLang="ko-KR" dirty="0"/>
              <a:t>Vision AI</a:t>
            </a:r>
            <a:br>
              <a:rPr lang="en" altLang="ko-KR" dirty="0"/>
            </a:br>
            <a:r>
              <a:rPr lang="en" altLang="ko-KR" dirty="0"/>
              <a:t>→ </a:t>
            </a:r>
            <a:r>
              <a:rPr lang="ko-KR" altLang="en-US" dirty="0"/>
              <a:t>취향 분석</a:t>
            </a:r>
            <a:br>
              <a:rPr lang="ko-KR" altLang="en-US" dirty="0"/>
            </a:br>
            <a:r>
              <a:rPr lang="ko-KR" altLang="en-US" dirty="0"/>
              <a:t>→ 전문가 추천</a:t>
            </a:r>
          </a:p>
          <a:p>
            <a:r>
              <a:rPr lang="ko-KR" altLang="en-US" b="1" dirty="0"/>
              <a:t>이미지</a:t>
            </a:r>
            <a:endParaRPr lang="ko-KR" altLang="en-US" dirty="0"/>
          </a:p>
          <a:p>
            <a:r>
              <a:rPr lang="en-US" altLang="ko-KR" dirty="0"/>
              <a:t>(</a:t>
            </a:r>
            <a:r>
              <a:rPr lang="en" altLang="ko-KR" dirty="0"/>
              <a:t>AI </a:t>
            </a:r>
            <a:r>
              <a:rPr lang="ko-KR" altLang="en-US" dirty="0"/>
              <a:t>파이프라인 다이어그램</a:t>
            </a:r>
            <a:r>
              <a:rPr lang="en-US" altLang="ko-KR" dirty="0"/>
              <a:t>)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0453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44B3C0-9B0D-4070-D356-AC99053F2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2-4.</a:t>
            </a:r>
            <a:r>
              <a:rPr kumimoji="1" lang="ko-KR" altLang="en-US" dirty="0"/>
              <a:t> 기술 실현가능성 및 검증 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BCC72D-3AD5-BD87-225D-11F1A2F9F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현재 진행</a:t>
            </a:r>
            <a:endParaRPr lang="ko-KR" altLang="en-US" dirty="0"/>
          </a:p>
          <a:p>
            <a:r>
              <a:rPr lang="ko-KR" altLang="en-US" dirty="0"/>
              <a:t>예비부부 테스트 진행</a:t>
            </a:r>
          </a:p>
          <a:p>
            <a:r>
              <a:rPr lang="ko-KR" altLang="en-US" dirty="0"/>
              <a:t>전문가 네트워크 확보</a:t>
            </a:r>
          </a:p>
          <a:p>
            <a:r>
              <a:rPr lang="en" altLang="ko-KR" dirty="0"/>
              <a:t>UX </a:t>
            </a:r>
            <a:r>
              <a:rPr lang="ko-KR" altLang="en-US" dirty="0"/>
              <a:t>피드백 수집</a:t>
            </a:r>
          </a:p>
          <a:p>
            <a:r>
              <a:rPr lang="ko-KR" altLang="en-US" b="1" dirty="0"/>
              <a:t>성과</a:t>
            </a:r>
            <a:endParaRPr lang="ko-KR" altLang="en-US" dirty="0"/>
          </a:p>
          <a:p>
            <a:r>
              <a:rPr lang="ko-KR" altLang="en-US" dirty="0"/>
              <a:t>초기 테스트</a:t>
            </a:r>
          </a:p>
          <a:p>
            <a:r>
              <a:rPr lang="ko-KR" altLang="en-US" b="1" dirty="0"/>
              <a:t>전문가 탐색 시간 </a:t>
            </a:r>
            <a:r>
              <a:rPr lang="en-US" altLang="ko-KR" b="1" dirty="0"/>
              <a:t>75% </a:t>
            </a:r>
            <a:r>
              <a:rPr lang="ko-KR" altLang="en-US" b="1" dirty="0"/>
              <a:t>감소</a:t>
            </a:r>
            <a:endParaRPr lang="ko-KR" altLang="en-US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821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3E5600-CCAA-620C-1FE3-21B2E749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2-5</a:t>
            </a:r>
            <a:r>
              <a:rPr kumimoji="1" lang="ko-KR" altLang="en-US" dirty="0"/>
              <a:t> 경쟁 분석 및 </a:t>
            </a:r>
            <a:r>
              <a:rPr kumimoji="1" lang="ko-KR" altLang="en-US" dirty="0" err="1"/>
              <a:t>차별점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1D4A32-8337-F997-E8AF-BF0589C72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표</a:t>
            </a:r>
            <a:endParaRPr lang="ko-KR" altLang="en-US" dirty="0"/>
          </a:p>
          <a:p>
            <a:r>
              <a:rPr lang="ko-KR" altLang="en-US" dirty="0"/>
              <a:t>플랫폼 </a:t>
            </a:r>
            <a:r>
              <a:rPr lang="en-US" altLang="ko-KR" dirty="0"/>
              <a:t>| </a:t>
            </a:r>
            <a:r>
              <a:rPr lang="ko-KR" altLang="en-US" dirty="0"/>
              <a:t>특징 </a:t>
            </a:r>
            <a:r>
              <a:rPr lang="en-US" altLang="ko-KR" dirty="0"/>
              <a:t>| </a:t>
            </a:r>
            <a:r>
              <a:rPr lang="ko-KR" altLang="en-US" dirty="0"/>
              <a:t>한계</a:t>
            </a:r>
            <a:br>
              <a:rPr lang="ko-KR" altLang="en-US" dirty="0"/>
            </a:br>
            <a:r>
              <a:rPr lang="ko-KR" altLang="en-US" dirty="0" err="1"/>
              <a:t>웨딩업체</a:t>
            </a:r>
            <a:r>
              <a:rPr lang="ko-KR" altLang="en-US" dirty="0"/>
              <a:t> </a:t>
            </a:r>
            <a:r>
              <a:rPr lang="en-US" altLang="ko-KR" dirty="0"/>
              <a:t>| </a:t>
            </a:r>
            <a:r>
              <a:rPr lang="ko-KR" altLang="en-US" dirty="0"/>
              <a:t>패키지 중심 </a:t>
            </a:r>
            <a:r>
              <a:rPr lang="en-US" altLang="ko-KR" dirty="0"/>
              <a:t>| </a:t>
            </a:r>
            <a:r>
              <a:rPr lang="ko-KR" altLang="en-US" dirty="0"/>
              <a:t>선택 제한</a:t>
            </a:r>
            <a:br>
              <a:rPr lang="ko-KR" altLang="en-US" dirty="0"/>
            </a:br>
            <a:r>
              <a:rPr lang="ko-KR" altLang="en-US" dirty="0"/>
              <a:t>숨고 </a:t>
            </a:r>
            <a:r>
              <a:rPr lang="en-US" altLang="ko-KR" dirty="0"/>
              <a:t>| </a:t>
            </a:r>
            <a:r>
              <a:rPr lang="ko-KR" altLang="en-US" dirty="0"/>
              <a:t>일반 매칭 </a:t>
            </a:r>
            <a:r>
              <a:rPr lang="en-US" altLang="ko-KR" dirty="0"/>
              <a:t>| </a:t>
            </a:r>
            <a:r>
              <a:rPr lang="ko-KR" altLang="en-US" dirty="0"/>
              <a:t>웨딩 특화 부족</a:t>
            </a:r>
            <a:br>
              <a:rPr lang="ko-KR" altLang="en-US" dirty="0"/>
            </a:br>
            <a:r>
              <a:rPr lang="en" altLang="ko-KR" dirty="0"/>
              <a:t>SNS | </a:t>
            </a:r>
            <a:r>
              <a:rPr lang="ko-KR" altLang="en-US" dirty="0"/>
              <a:t>정보 탐색 </a:t>
            </a:r>
            <a:r>
              <a:rPr lang="en-US" altLang="ko-KR" dirty="0"/>
              <a:t>| </a:t>
            </a:r>
            <a:r>
              <a:rPr lang="ko-KR" altLang="en-US" dirty="0"/>
              <a:t>신뢰도 문제</a:t>
            </a:r>
          </a:p>
          <a:p>
            <a:r>
              <a:rPr lang="ko-KR" altLang="en-US" b="1" dirty="0"/>
              <a:t>핵심</a:t>
            </a:r>
            <a:endParaRPr lang="ko-KR" altLang="en-US" dirty="0"/>
          </a:p>
          <a:p>
            <a:r>
              <a:rPr lang="ko-KR" altLang="en-US" dirty="0"/>
              <a:t>웨딩 특화 매칭 플랫폼 부재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528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5CE8E-9A1D-ED0D-7410-727BF8FDA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2-6.</a:t>
            </a:r>
            <a:r>
              <a:rPr kumimoji="1" lang="ko-KR" altLang="en-US" dirty="0"/>
              <a:t> 비즈니스 모델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B2B2C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CEE380-46BC-780A-EAE8-1847270DC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구조</a:t>
            </a:r>
            <a:endParaRPr lang="ko-KR" altLang="en-US" dirty="0"/>
          </a:p>
          <a:p>
            <a:r>
              <a:rPr lang="ko-KR" altLang="en-US" dirty="0"/>
              <a:t>예비부부</a:t>
            </a:r>
            <a:r>
              <a:rPr lang="en-US" altLang="ko-KR" dirty="0"/>
              <a:t>(</a:t>
            </a:r>
            <a:r>
              <a:rPr lang="en" altLang="ko-KR" dirty="0"/>
              <a:t>B2C)</a:t>
            </a:r>
            <a:br>
              <a:rPr lang="en" altLang="ko-KR" dirty="0"/>
            </a:br>
            <a:r>
              <a:rPr lang="en" altLang="ko-KR" dirty="0"/>
              <a:t>→ </a:t>
            </a:r>
            <a:r>
              <a:rPr lang="ko-KR" altLang="en-US" dirty="0"/>
              <a:t>플랫폼</a:t>
            </a:r>
            <a:br>
              <a:rPr lang="ko-KR" altLang="en-US" dirty="0"/>
            </a:br>
            <a:r>
              <a:rPr lang="ko-KR" altLang="en-US" dirty="0"/>
              <a:t>→ 웨딩 전문가</a:t>
            </a:r>
            <a:r>
              <a:rPr lang="en-US" altLang="ko-KR" dirty="0"/>
              <a:t>(</a:t>
            </a:r>
            <a:r>
              <a:rPr lang="en" altLang="ko-KR" dirty="0"/>
              <a:t>B2B)</a:t>
            </a:r>
          </a:p>
          <a:p>
            <a:r>
              <a:rPr lang="ko-KR" altLang="en-US" b="1" dirty="0"/>
              <a:t>수익 모델</a:t>
            </a:r>
            <a:endParaRPr lang="ko-KR" altLang="en-US" dirty="0"/>
          </a:p>
          <a:p>
            <a:r>
              <a:rPr lang="ko-KR" altLang="en-US" dirty="0"/>
              <a:t>매칭 수수료</a:t>
            </a:r>
          </a:p>
          <a:p>
            <a:r>
              <a:rPr lang="ko-KR" altLang="en-US" dirty="0"/>
              <a:t>전문가 크레딧</a:t>
            </a:r>
          </a:p>
          <a:p>
            <a:r>
              <a:rPr lang="ko-KR" altLang="en-US" b="1" dirty="0"/>
              <a:t>이미지</a:t>
            </a:r>
            <a:endParaRPr lang="ko-KR" altLang="en-US" dirty="0"/>
          </a:p>
          <a:p>
            <a:r>
              <a:rPr lang="en-US" altLang="ko-KR" dirty="0"/>
              <a:t>(</a:t>
            </a:r>
            <a:r>
              <a:rPr lang="ko-KR" altLang="en-US" dirty="0"/>
              <a:t>플랫폼 거래 구조 다이어그램</a:t>
            </a:r>
            <a:r>
              <a:rPr lang="en-US" altLang="ko-KR" dirty="0"/>
              <a:t>)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3814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D56488-6F4D-30C8-F2D7-510558D41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3-1. </a:t>
            </a:r>
            <a:r>
              <a:rPr kumimoji="1" lang="ko-KR" altLang="en-US" dirty="0" err="1"/>
              <a:t>성장로드맵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사업 확장 전략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701890-69C1-C0D6-CE73-AD04686E5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로드맵</a:t>
            </a:r>
            <a:endParaRPr lang="ko-KR" altLang="en-US" dirty="0"/>
          </a:p>
          <a:p>
            <a:r>
              <a:rPr lang="en-US" altLang="ko-KR" dirty="0"/>
              <a:t>2026</a:t>
            </a:r>
            <a:br>
              <a:rPr lang="en-US" altLang="ko-KR" dirty="0"/>
            </a:br>
            <a:r>
              <a:rPr lang="ko-KR" altLang="en-US" dirty="0"/>
              <a:t>서비스 출시</a:t>
            </a:r>
          </a:p>
          <a:p>
            <a:r>
              <a:rPr lang="en-US" altLang="ko-KR" dirty="0"/>
              <a:t>2027</a:t>
            </a:r>
            <a:br>
              <a:rPr lang="en-US" altLang="ko-KR" dirty="0"/>
            </a:br>
            <a:r>
              <a:rPr lang="ko-KR" altLang="en-US" dirty="0"/>
              <a:t>웨딩 카테고리 확장</a:t>
            </a:r>
          </a:p>
          <a:p>
            <a:r>
              <a:rPr lang="en-US" altLang="ko-KR" dirty="0"/>
              <a:t>2028</a:t>
            </a:r>
            <a:br>
              <a:rPr lang="en-US" altLang="ko-KR" dirty="0"/>
            </a:br>
            <a:r>
              <a:rPr lang="en" altLang="ko-KR" dirty="0"/>
              <a:t>AI </a:t>
            </a:r>
            <a:r>
              <a:rPr lang="ko-KR" altLang="en-US" dirty="0"/>
              <a:t>플랫폼 고도화</a:t>
            </a:r>
          </a:p>
          <a:p>
            <a:r>
              <a:rPr lang="ko-KR" altLang="en-US" b="1" dirty="0"/>
              <a:t>이미지</a:t>
            </a:r>
            <a:endParaRPr lang="ko-KR" altLang="en-US" dirty="0"/>
          </a:p>
          <a:p>
            <a:r>
              <a:rPr lang="en-US" altLang="ko-KR" dirty="0"/>
              <a:t>(</a:t>
            </a:r>
            <a:r>
              <a:rPr lang="ko-KR" altLang="en-US" dirty="0"/>
              <a:t>성장 로드맵 그래픽</a:t>
            </a:r>
            <a:r>
              <a:rPr lang="en-US" altLang="ko-KR" dirty="0"/>
              <a:t>)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4817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50FD4-ECC4-2CA7-ACB9-7F7B1E60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BA10F-B700-33E3-CC91-67AEE26C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3-2. </a:t>
            </a:r>
            <a:r>
              <a:rPr kumimoji="1" lang="ko-KR" altLang="en-US" dirty="0"/>
              <a:t>마케팅 전략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초기 시장 진입 전략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EFDA11-B52B-24F8-1C29-2ACEE3E8A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타겟</a:t>
            </a:r>
            <a:endParaRPr lang="ko-KR" altLang="en-US" dirty="0"/>
          </a:p>
          <a:p>
            <a:r>
              <a:rPr lang="ko-KR" altLang="en-US" dirty="0"/>
              <a:t>수도권 예비부부</a:t>
            </a:r>
          </a:p>
          <a:p>
            <a:r>
              <a:rPr lang="ko-KR" altLang="en-US" b="1" dirty="0"/>
              <a:t>마케팅</a:t>
            </a:r>
            <a:endParaRPr lang="ko-KR" altLang="en-US" dirty="0"/>
          </a:p>
          <a:p>
            <a:r>
              <a:rPr lang="en" altLang="ko-KR" dirty="0"/>
              <a:t>SNS </a:t>
            </a:r>
            <a:r>
              <a:rPr lang="ko-KR" altLang="en-US" dirty="0"/>
              <a:t>웨딩 커뮤니티</a:t>
            </a:r>
          </a:p>
          <a:p>
            <a:r>
              <a:rPr lang="ko-KR" altLang="en-US" dirty="0"/>
              <a:t>웨딩 박람회</a:t>
            </a:r>
          </a:p>
          <a:p>
            <a:r>
              <a:rPr lang="ko-KR" altLang="en-US" dirty="0"/>
              <a:t>전문가 네트워크</a:t>
            </a:r>
          </a:p>
          <a:p>
            <a:r>
              <a:rPr lang="ko-KR" altLang="en-US" b="1" dirty="0"/>
              <a:t>이미지</a:t>
            </a:r>
            <a:endParaRPr lang="ko-KR" altLang="en-US" dirty="0"/>
          </a:p>
          <a:p>
            <a:r>
              <a:rPr lang="en-US" altLang="ko-KR" dirty="0"/>
              <a:t>(</a:t>
            </a:r>
            <a:r>
              <a:rPr lang="ko-KR" altLang="en-US" dirty="0"/>
              <a:t>웨딩 박람회 이미지</a:t>
            </a:r>
            <a:r>
              <a:rPr lang="en-US" altLang="ko-KR" dirty="0"/>
              <a:t>)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3338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1F89C-BF0C-F405-FF62-479804208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3-3.</a:t>
            </a:r>
            <a:r>
              <a:rPr kumimoji="1" lang="ko-KR" altLang="en-US" dirty="0"/>
              <a:t> 핵심 </a:t>
            </a:r>
            <a:r>
              <a:rPr kumimoji="1" lang="en-US" altLang="ko-KR" dirty="0"/>
              <a:t>KPI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협약기간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0E1CAA-A646-B702-17C4-E4C0DBCB7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지표</a:t>
            </a:r>
            <a:endParaRPr lang="ko-KR" altLang="en-US" dirty="0"/>
          </a:p>
          <a:p>
            <a:r>
              <a:rPr lang="ko-KR" altLang="en-US" dirty="0"/>
              <a:t>전문가 </a:t>
            </a:r>
            <a:r>
              <a:rPr lang="en-US" altLang="ko-KR" dirty="0"/>
              <a:t>100</a:t>
            </a:r>
            <a:r>
              <a:rPr lang="ko-KR" altLang="en-US" dirty="0"/>
              <a:t>명 확보</a:t>
            </a:r>
          </a:p>
          <a:p>
            <a:r>
              <a:rPr lang="ko-KR" altLang="en-US" dirty="0"/>
              <a:t>예비부부 사용자 </a:t>
            </a:r>
            <a:r>
              <a:rPr lang="en-US" altLang="ko-KR" dirty="0"/>
              <a:t>50</a:t>
            </a:r>
            <a:r>
              <a:rPr lang="ko-KR" altLang="en-US" dirty="0"/>
              <a:t>명 확보</a:t>
            </a:r>
          </a:p>
          <a:p>
            <a:r>
              <a:rPr lang="ko-KR" altLang="en-US" dirty="0"/>
              <a:t>매칭 거래 발생</a:t>
            </a:r>
          </a:p>
          <a:p>
            <a:r>
              <a:rPr lang="ko-KR" altLang="en-US" b="1" dirty="0"/>
              <a:t>목표 매출</a:t>
            </a:r>
            <a:endParaRPr lang="ko-KR" altLang="en-US" dirty="0"/>
          </a:p>
          <a:p>
            <a:r>
              <a:rPr lang="en-US" altLang="ko-KR" dirty="0"/>
              <a:t>825</a:t>
            </a:r>
            <a:r>
              <a:rPr lang="ko-KR" altLang="en-US" dirty="0"/>
              <a:t>만원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6110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B4ACDE-7E6B-5393-B035-51EF93B76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3-4.</a:t>
            </a:r>
            <a:r>
              <a:rPr kumimoji="1" lang="ko-KR" altLang="en-US" dirty="0"/>
              <a:t> 자금 운용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사업비 활용 계획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37EE3-02C9-15EC-C615-514B39BE0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사업비 활용 계획</a:t>
            </a:r>
          </a:p>
          <a:p>
            <a:r>
              <a:rPr lang="ko-KR" altLang="en-US" b="1" dirty="0"/>
              <a:t>사용 목적</a:t>
            </a:r>
            <a:endParaRPr lang="ko-KR" altLang="en-US" dirty="0"/>
          </a:p>
          <a:p>
            <a:r>
              <a:rPr lang="en" altLang="ko-KR" dirty="0"/>
              <a:t>AI </a:t>
            </a:r>
            <a:r>
              <a:rPr lang="ko-KR" altLang="en-US" dirty="0"/>
              <a:t>개발</a:t>
            </a:r>
          </a:p>
          <a:p>
            <a:r>
              <a:rPr lang="ko-KR" altLang="en-US" dirty="0"/>
              <a:t>데이터 구축</a:t>
            </a:r>
          </a:p>
          <a:p>
            <a:r>
              <a:rPr lang="ko-KR" altLang="en-US" dirty="0"/>
              <a:t>마케팅</a:t>
            </a:r>
          </a:p>
          <a:p>
            <a:r>
              <a:rPr lang="en" altLang="ko-KR" dirty="0"/>
              <a:t>UX </a:t>
            </a:r>
            <a:r>
              <a:rPr lang="ko-KR" altLang="en-US" dirty="0"/>
              <a:t>개선</a:t>
            </a:r>
          </a:p>
          <a:p>
            <a:r>
              <a:rPr lang="ko-KR" altLang="en-US" b="1" dirty="0"/>
              <a:t>이미지</a:t>
            </a:r>
            <a:endParaRPr lang="ko-KR" altLang="en-US" dirty="0"/>
          </a:p>
          <a:p>
            <a:r>
              <a:rPr lang="en-US" altLang="ko-KR" dirty="0"/>
              <a:t>(</a:t>
            </a:r>
            <a:r>
              <a:rPr lang="ko-KR" altLang="en-US" dirty="0"/>
              <a:t>사업비 사용 </a:t>
            </a:r>
            <a:r>
              <a:rPr lang="ko-KR" altLang="en-US" dirty="0" err="1"/>
              <a:t>인포그래픽</a:t>
            </a:r>
            <a:r>
              <a:rPr lang="en-US" altLang="ko-KR" dirty="0"/>
              <a:t>)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0424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31C4E-843A-ADD7-B25E-C3AC4B56E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4-1.</a:t>
            </a:r>
            <a:r>
              <a:rPr kumimoji="1" lang="ko-KR" altLang="en-US" dirty="0"/>
              <a:t> 팀 구성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팀역량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CEAD8B-A7E3-5AAA-41E9-9F2B45410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팀 역량</a:t>
            </a:r>
          </a:p>
          <a:p>
            <a:r>
              <a:rPr lang="ko-KR" altLang="en-US" dirty="0"/>
              <a:t>대표</a:t>
            </a:r>
          </a:p>
          <a:p>
            <a:r>
              <a:rPr lang="ko-KR" altLang="en-US" dirty="0"/>
              <a:t>웨딩 전문가 네트워크</a:t>
            </a:r>
          </a:p>
          <a:p>
            <a:r>
              <a:rPr lang="en" altLang="ko-KR" dirty="0"/>
              <a:t>AI </a:t>
            </a:r>
            <a:r>
              <a:rPr lang="ko-KR" altLang="en-US" dirty="0"/>
              <a:t>플랫폼 기획</a:t>
            </a:r>
          </a:p>
          <a:p>
            <a:r>
              <a:rPr lang="ko-KR" altLang="en-US" dirty="0"/>
              <a:t>기술</a:t>
            </a:r>
          </a:p>
          <a:p>
            <a:r>
              <a:rPr lang="en" altLang="ko-KR" dirty="0"/>
              <a:t>AI </a:t>
            </a:r>
            <a:r>
              <a:rPr lang="ko-KR" altLang="en-US" dirty="0"/>
              <a:t>개발</a:t>
            </a:r>
          </a:p>
          <a:p>
            <a:r>
              <a:rPr lang="ko-KR" altLang="en-US" dirty="0"/>
              <a:t>플랫폼 개발</a:t>
            </a:r>
          </a:p>
          <a:p>
            <a:r>
              <a:rPr lang="ko-KR" altLang="en-US" dirty="0"/>
              <a:t>디자인</a:t>
            </a:r>
          </a:p>
          <a:p>
            <a:r>
              <a:rPr lang="en" altLang="ko-KR" dirty="0"/>
              <a:t>UX </a:t>
            </a:r>
            <a:r>
              <a:rPr lang="ko-KR" altLang="en-US" dirty="0"/>
              <a:t>설계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0517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D55DE-39CE-1954-4F03-E94C0430F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4-2.</a:t>
            </a:r>
            <a:r>
              <a:rPr kumimoji="1" lang="ko-KR" altLang="en-US" dirty="0"/>
              <a:t> 재도전 스토리 및 교훈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005CAE-FE7A-CCD6-956C-C3E97A7D5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실패 경험을 통한 시장 통찰</a:t>
            </a:r>
          </a:p>
          <a:p>
            <a:r>
              <a:rPr lang="ko-KR" altLang="en-US" b="1" dirty="0"/>
              <a:t>내용</a:t>
            </a:r>
            <a:endParaRPr lang="ko-KR" altLang="en-US" dirty="0"/>
          </a:p>
          <a:p>
            <a:r>
              <a:rPr lang="ko-KR" altLang="en-US" dirty="0"/>
              <a:t>이전 사업 경험을 통해</a:t>
            </a:r>
          </a:p>
          <a:p>
            <a:r>
              <a:rPr lang="ko-KR" altLang="en-US" dirty="0"/>
              <a:t>플랫폼 마진 구조 한계</a:t>
            </a:r>
          </a:p>
          <a:p>
            <a:r>
              <a:rPr lang="ko-KR" altLang="en-US" dirty="0"/>
              <a:t>공급자 확보 문제</a:t>
            </a:r>
          </a:p>
          <a:p>
            <a:r>
              <a:rPr lang="ko-KR" altLang="en-US" dirty="0" err="1"/>
              <a:t>를</a:t>
            </a:r>
            <a:r>
              <a:rPr lang="ko-KR" altLang="en-US" dirty="0"/>
              <a:t> 경험하였다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통해</a:t>
            </a:r>
          </a:p>
          <a:p>
            <a:r>
              <a:rPr lang="ko-KR" altLang="en-US" b="1" dirty="0"/>
              <a:t>플랫폼 구조와 시장 전략을 개선한</a:t>
            </a:r>
            <a:br>
              <a:rPr lang="ko-KR" altLang="en-US" b="1" dirty="0"/>
            </a:br>
            <a:r>
              <a:rPr lang="en" altLang="ko-KR" b="1" dirty="0"/>
              <a:t>AI </a:t>
            </a:r>
            <a:r>
              <a:rPr lang="ko-KR" altLang="en-US" b="1" dirty="0"/>
              <a:t>기반 웨딩 전문가 매칭 플랫폼을 구축</a:t>
            </a:r>
            <a:endParaRPr lang="ko-KR" altLang="en-US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7910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599</Words>
  <Application>Microsoft Macintosh PowerPoint</Application>
  <PresentationFormat>와이드스크린</PresentationFormat>
  <Paragraphs>137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AI 웨딩 전문가  탐색 플랫폼 특별한 시간</vt:lpstr>
      <vt:lpstr>PowerPoint 프레젠테이션</vt:lpstr>
      <vt:lpstr>1-1. 문제인식 – 결혼 준비 과정은 아직도 수동 탐색</vt:lpstr>
      <vt:lpstr>1-2. 시장 규모 – 웨딩 서비스 시장 기회</vt:lpstr>
      <vt:lpstr>2-1. 서비스 핵심 기능 – ai웨딩플래닝/전문가 탐색</vt:lpstr>
      <vt:lpstr>2-2. 창업아이템 UX – ai웨딩플래닝 UX</vt:lpstr>
      <vt:lpstr>2-3. 기술 차별화 – 멀티모달 AI 기술 구조</vt:lpstr>
      <vt:lpstr>2-4. 기술 실현가능성 및 검증  </vt:lpstr>
      <vt:lpstr>2-5 경쟁 분석 및 차별점</vt:lpstr>
      <vt:lpstr>2-6. 비즈니스 모델 – B2B2C</vt:lpstr>
      <vt:lpstr>3-1. 성장로드맵 – 사업 확장 전략</vt:lpstr>
      <vt:lpstr>3-2. 마케팅 전략 – 초기 시장 진입 전략</vt:lpstr>
      <vt:lpstr>3-3. 핵심 KPI –협약기간 목표</vt:lpstr>
      <vt:lpstr>3-4. 자금 운용 – 사업비 활용 계획</vt:lpstr>
      <vt:lpstr>4-1. 팀 구성 - 팀역량</vt:lpstr>
      <vt:lpstr>4-2. 재도전 스토리 및 교훈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김남</dc:creator>
  <cp:lastModifiedBy>김남</cp:lastModifiedBy>
  <cp:revision>9</cp:revision>
  <dcterms:created xsi:type="dcterms:W3CDTF">2026-03-11T11:10:43Z</dcterms:created>
  <dcterms:modified xsi:type="dcterms:W3CDTF">2026-03-11T11:58:00Z</dcterms:modified>
</cp:coreProperties>
</file>